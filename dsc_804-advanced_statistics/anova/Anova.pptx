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358"/>
    <p:restoredTop sz="94694"/>
  </p:normalViewPr>
  <p:slideViewPr>
    <p:cSldViewPr snapToGrid="0">
      <p:cViewPr>
        <p:scale>
          <a:sx n="70" d="100"/>
          <a:sy n="70" d="100"/>
        </p:scale>
        <p:origin x="840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79BA-2F2C-7057-5F99-6F47EAC36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C7A44-F202-6842-EC22-652FFF319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586C-61AB-0B0F-EB25-1B0FDAF2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3C27A-44C3-E770-314E-2B8414E7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76385-7EE1-CD62-FA40-94AD417E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5842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7483-0365-E818-1176-9C0D1C53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3A656-541A-98AA-6AB2-9374195A7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0DAC-3C78-291A-1E61-922B5BC34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8FA94-5084-9A2B-7807-1008A6E4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B8957-18D8-3B59-3C7B-0378168C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9082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792B-09FB-D76B-3F15-EC7B58B6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B14E0-1E0D-E98D-06D2-93450FDA9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7332-4EE8-D6A4-6FBC-91B45582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C7B0-FDF6-D01A-F663-59B27923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7B865-8051-23E4-3E9F-9F4B95B8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478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B7B1-62B9-8DF0-12F2-49515EF2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C5CE4-ADBE-C954-85F2-8240034E9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46089-E6D5-73F3-B5C2-45BB0B54F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32D74-72ED-6425-6EAA-BCA26749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EEB48-DEB3-C7DF-2CBA-AA009E34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C74DF-0FCB-FA69-4E09-B01A2920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0683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86C3-D345-1A3C-099E-CAF46193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3DEA4-2CCE-85E7-0A27-36ED6D467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19861-4614-9477-EBE6-A05BFF3D4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12093-7B99-1639-ADE6-94C3DCC23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C9730-C357-AA28-558A-83BAB4F65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E59C5-9D09-ECC2-84D6-4DE4EF02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5CBA0-6402-CBFC-78EA-89889F0E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16C422-2F0A-E924-B6B0-5CD34598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3133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E377-5091-3746-3561-DD8E5779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BF54F-0BAE-695D-CF4D-2857E22F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CE3B9-3F4F-3341-247B-EE2DAD2C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4C91F-DE27-CA6A-1341-68C1AF2B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7569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95E6D-281A-29B8-28A0-FE91BC6F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2E4FD-C6CA-129E-EA21-1502A5B1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5FCA-D6B1-8F6C-C9B6-759D8FD1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2454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7ACD-BA15-41D3-D217-E106D2E7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0649-882B-B5B7-0A76-28475C583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D54F0-B027-3639-3663-056F8356A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E5205-A14F-D97E-6F92-C99EF9AB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B79D4-C7E8-4E57-922B-9F021760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CE8C7-CAF2-A81C-73C9-C9826E3D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0300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08D9-92D8-B765-4067-F98180DE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D8CD6-51FD-5B3B-AD70-F82F9313A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5BA20-09EE-FCFF-57D1-E684E9D37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95DAC-7ACF-B4FC-09EA-6D9DDC8D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C620A-5C6D-7F18-84FE-80C7B170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B2E82-5DD4-8EE8-F0E5-518FB70D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7201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D288-F790-38A4-94BF-6601B4A2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8E163-8C25-897C-82F4-5B0BB1209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0281E-C0DB-AB36-0DA2-A7664A4A5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0F776-7F68-27D4-57BB-224D75E2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FA04-10BB-9AD1-4E54-78122DE5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66676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E5445-4612-2E51-3B1A-D43CE8857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E3143-41E8-92B7-601A-7C1585B84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568A7-ECB3-4317-3D61-282DAB7E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5C33-E244-7A76-520B-30D0E6E0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0CE9F-89B1-F405-F3C5-8A960CBE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9705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BCF955-085F-CD13-7DC5-4A03783E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3E3D8-1BE2-F955-6B1A-65F5840D1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0BB86-C67E-A29B-3BCA-594AAB89A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D70C9-84B3-AB47-9793-6BFF2B5FA319}" type="datetimeFigureOut">
              <a:rPr lang="en-KE" smtClean="0"/>
              <a:t>06/01/2026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0E35C-3105-84E0-0ABC-82DB9DEA6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45695-4AAC-5A69-F884-9ED980A8A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B5D8E-ECDD-8849-A84F-2A690F6857C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6984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A323-842F-14C9-19F4-D9034D8C7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E" dirty="0"/>
              <a:t>One-Way ANOVA</a:t>
            </a:r>
          </a:p>
        </p:txBody>
      </p:sp>
    </p:spTree>
    <p:extLst>
      <p:ext uri="{BB962C8B-B14F-4D97-AF65-F5344CB8AC3E}">
        <p14:creationId xmlns:p14="http://schemas.microsoft.com/office/powerpoint/2010/main" val="3651451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F3CC-2648-0D91-0313-FAE16974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9EEF-1783-2611-BCB6-62AF539EC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goal in this project is to </a:t>
            </a:r>
            <a:r>
              <a:rPr lang="en-GB" dirty="0" err="1"/>
              <a:t>analyze</a:t>
            </a:r>
            <a:r>
              <a:rPr lang="en-GB" dirty="0"/>
              <a:t> if test whether there are significant differences among the group means. </a:t>
            </a:r>
          </a:p>
          <a:p>
            <a:r>
              <a:rPr lang="en-KE" dirty="0"/>
              <a:t>Iris dataset used, the most famous and widely used dataset in machine learning and statistics.</a:t>
            </a:r>
          </a:p>
          <a:p>
            <a:r>
              <a:rPr lang="en-GB" dirty="0"/>
              <a:t>It was introduced by the British statistician and biologist Ronald Fisher in 1936 as an example for discriminant analysis. </a:t>
            </a:r>
          </a:p>
          <a:p>
            <a:r>
              <a:rPr lang="en-GB" dirty="0"/>
              <a:t>It has 150 samples (rows), 4 features (petal and sepal dimensions), and target variable with three categories (iris: </a:t>
            </a:r>
            <a:r>
              <a:rPr lang="en-GB" dirty="0" err="1"/>
              <a:t>setosa</a:t>
            </a:r>
            <a:r>
              <a:rPr lang="en-GB" dirty="0"/>
              <a:t>, versicolor and virginica, 50 samples each).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7029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CD70-2649-2E11-3820-591845B0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Data Cleaning and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A197-6F07-E6AA-3595-71D7291F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ggplot2, car, </a:t>
            </a:r>
            <a:r>
              <a:rPr lang="en-GB" dirty="0" err="1"/>
              <a:t>dplyr</a:t>
            </a:r>
            <a:r>
              <a:rPr lang="en-GB" dirty="0"/>
              <a:t> and </a:t>
            </a:r>
            <a:r>
              <a:rPr lang="en-GB" dirty="0" err="1"/>
              <a:t>DescTools</a:t>
            </a:r>
            <a:r>
              <a:rPr lang="en-GB" dirty="0"/>
              <a:t> libraries were used.</a:t>
            </a:r>
          </a:p>
          <a:p>
            <a:r>
              <a:rPr lang="en-GB" dirty="0"/>
              <a:t>There are no missing values , all 150 observations are complete.</a:t>
            </a:r>
          </a:p>
          <a:p>
            <a:r>
              <a:rPr lang="en-GB" dirty="0"/>
              <a:t>No handling is required, as the data is clean and complete.</a:t>
            </a:r>
          </a:p>
        </p:txBody>
      </p:sp>
    </p:spTree>
    <p:extLst>
      <p:ext uri="{BB962C8B-B14F-4D97-AF65-F5344CB8AC3E}">
        <p14:creationId xmlns:p14="http://schemas.microsoft.com/office/powerpoint/2010/main" val="17811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FAA5-CD63-AFA7-822A-26910EDB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Summary Statistics Plots and Exploration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82DF3-44B6-FB8B-7B23-732D189C9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01" y="1985376"/>
            <a:ext cx="4111019" cy="25384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C27BE0-2E57-CDCF-E339-37F1508A7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420" y="1235242"/>
            <a:ext cx="6919288" cy="535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9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EDD3-1016-93BD-9A91-CD45ED75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Assumptions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EBEDA-143F-2F6B-CA73-EC2346DD8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Before conducting ANOVA, we have to check for the following assumptions:</a:t>
            </a:r>
          </a:p>
          <a:p>
            <a:pPr lvl="1"/>
            <a:r>
              <a:rPr lang="en-GB" dirty="0"/>
              <a:t>Normality: Are the response variable values within each group approximately normally distributed?</a:t>
            </a:r>
          </a:p>
          <a:p>
            <a:pPr lvl="1"/>
            <a:r>
              <a:rPr lang="en-GB" dirty="0"/>
              <a:t>Homogeneity of Variances: Are the group variances approximately equal? Use Levene’s test or Bartlett’s test.</a:t>
            </a:r>
          </a:p>
        </p:txBody>
      </p:sp>
    </p:spTree>
    <p:extLst>
      <p:ext uri="{BB962C8B-B14F-4D97-AF65-F5344CB8AC3E}">
        <p14:creationId xmlns:p14="http://schemas.microsoft.com/office/powerpoint/2010/main" val="303941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477C-A05B-6D18-D941-BA87EE71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Assumptions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FB0340-DE40-AF9E-EAC2-98FFDC030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38652" y="1690689"/>
            <a:ext cx="3474228" cy="3247071"/>
          </a:xfrm>
        </p:spPr>
        <p:txBody>
          <a:bodyPr>
            <a:noAutofit/>
          </a:bodyPr>
          <a:lstStyle/>
          <a:p>
            <a:pPr algn="just"/>
            <a:r>
              <a:rPr lang="en-GB" sz="2200" dirty="0"/>
              <a:t>From the plots, distributions of sepal length and sepal width generally adhere to normality across all three species (</a:t>
            </a:r>
            <a:r>
              <a:rPr lang="en-GB" sz="2200" dirty="0" err="1"/>
              <a:t>setosa</a:t>
            </a:r>
            <a:r>
              <a:rPr lang="en-GB" sz="2200" dirty="0"/>
              <a:t>, versicolor, and virginica), although for </a:t>
            </a:r>
            <a:r>
              <a:rPr lang="en-GB" sz="2200" dirty="0" err="1"/>
              <a:t>setosa</a:t>
            </a:r>
            <a:r>
              <a:rPr lang="en-GB" sz="2200" dirty="0"/>
              <a:t> and virginica, there is a slight deviation at the 1-2 quantiles.</a:t>
            </a:r>
            <a:endParaRPr lang="en-KE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46B02-2D02-EB74-47CF-78AAB0432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52" y="1380282"/>
            <a:ext cx="7728835" cy="476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5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E6C732-8CF1-FC45-86B7-A944249F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ANOVA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73F84B6-E199-368F-A35C-2F8870DE2A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4350" y="2225135"/>
            <a:ext cx="6300666" cy="328618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C46688-CF48-6AF0-B29B-1FEDC3B65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2512" y="1825625"/>
            <a:ext cx="4971288" cy="4264279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 F-statistic of approximately 119.3 is very large, indicating substantial variation between group means (species) relative to within-group variation.</a:t>
            </a:r>
          </a:p>
          <a:p>
            <a:pPr algn="just"/>
            <a:r>
              <a:rPr lang="en-GB" dirty="0"/>
              <a:t>The p-value (2×10^16) is less than 0 '***', inferring there is strong evidence to reject the null hypothesis that the mean sepal length is equal across all three species.</a:t>
            </a:r>
          </a:p>
          <a:p>
            <a:pPr algn="just"/>
            <a:r>
              <a:rPr lang="en-GB" dirty="0"/>
              <a:t>The between-group sum of squares (63.21) accounts for most of the total variation, underscoring the species effect.</a:t>
            </a:r>
          </a:p>
          <a:p>
            <a:pPr algn="just"/>
            <a:r>
              <a:rPr lang="en-GB" dirty="0"/>
              <a:t>While ANOVA confirms at least one pairwise difference exists, it does not specify which pairs differ—follow-up post-hoc tests, such as the Tukey's HSD, would reveal whether all three pairwise comparisons are significant.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1050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1560DE-0E17-4F27-C8F7-B42291C57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Post-Hoc Analysis and Interpretation</a:t>
            </a:r>
            <a:endParaRPr lang="en-K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1232B-1A90-DDA3-0C9E-FFC8E296D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Iris virginica has the longest mean sepal length, significantly longer than both versicolor (by 0.652 cm) and </a:t>
            </a:r>
            <a:r>
              <a:rPr lang="en-GB" dirty="0" err="1"/>
              <a:t>setosa</a:t>
            </a:r>
            <a:r>
              <a:rPr lang="en-GB" dirty="0"/>
              <a:t> (by 1.582 cm).</a:t>
            </a:r>
          </a:p>
          <a:p>
            <a:r>
              <a:rPr lang="en-GB" dirty="0"/>
              <a:t>Iris versicolor has intermediate sepal length, significantly longer than </a:t>
            </a:r>
            <a:r>
              <a:rPr lang="en-GB" dirty="0" err="1"/>
              <a:t>setosa</a:t>
            </a:r>
            <a:r>
              <a:rPr lang="en-GB" dirty="0"/>
              <a:t> (by 0.930 cm).</a:t>
            </a:r>
          </a:p>
          <a:p>
            <a:r>
              <a:rPr lang="en-GB" dirty="0"/>
              <a:t>Iris </a:t>
            </a:r>
            <a:r>
              <a:rPr lang="en-GB" dirty="0" err="1"/>
              <a:t>setosa</a:t>
            </a:r>
            <a:r>
              <a:rPr lang="en-GB" dirty="0"/>
              <a:t> has the shortest mean sepal length. </a:t>
            </a:r>
          </a:p>
          <a:p>
            <a:r>
              <a:rPr lang="en-GB" dirty="0"/>
              <a:t>The 95% confidence intervals for all differences do not include zero, confirming that none of the pairwise differences could reasonably be due to chance. </a:t>
            </a:r>
          </a:p>
          <a:p>
            <a:r>
              <a:rPr lang="en-GB" dirty="0"/>
              <a:t>Tukey's HSD confirms that all three Iris species have statistically distinct mean sepal lengths, with a clear ordering: </a:t>
            </a:r>
            <a:r>
              <a:rPr lang="en-GB" dirty="0" err="1"/>
              <a:t>setosa</a:t>
            </a:r>
            <a:r>
              <a:rPr lang="en-GB" dirty="0"/>
              <a:t> &lt; versicolor &lt; virginica.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696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8379-F67C-5AA1-A463-CF0B2667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39D9E-036B-F434-7673-9936A7DE8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three pairwise comparisons show highly significant differences (adjusted p = 0.0000).</a:t>
            </a:r>
          </a:p>
          <a:p>
            <a:r>
              <a:rPr lang="en-GB" dirty="0"/>
              <a:t>This supports the strong discriminatory power of sepal length for distinguishing among the species, consistent with the extremely significant ANOVA result (F = 119.3, p &lt; 2e-16). </a:t>
            </a:r>
          </a:p>
          <a:p>
            <a:r>
              <a:rPr lang="en-GB" dirty="0"/>
              <a:t>Although petal measurements typically separate the species even more clearly, sepal length alone is sufficient to detect highly significant differences between all pairs.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62224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529</Words>
  <Application>Microsoft Macintosh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One-Way ANOVA</vt:lpstr>
      <vt:lpstr>About the Project</vt:lpstr>
      <vt:lpstr>Data Cleaning and Exploration</vt:lpstr>
      <vt:lpstr>Summary Statistics Plots and Exploration Analysis</vt:lpstr>
      <vt:lpstr>Assumptions Checking</vt:lpstr>
      <vt:lpstr>Assumptions Results</vt:lpstr>
      <vt:lpstr>ANOVA Analysis</vt:lpstr>
      <vt:lpstr>Post-Hoc Analysis and Interpretation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Bett Kipkemoi</dc:creator>
  <cp:lastModifiedBy>Bett Kipkemoi</cp:lastModifiedBy>
  <cp:revision>2</cp:revision>
  <dcterms:created xsi:type="dcterms:W3CDTF">2026-01-07T04:59:15Z</dcterms:created>
  <dcterms:modified xsi:type="dcterms:W3CDTF">2026-01-07T05:44:02Z</dcterms:modified>
</cp:coreProperties>
</file>